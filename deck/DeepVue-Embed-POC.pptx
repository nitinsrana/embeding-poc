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Two-week POC. One question: does the embed mechanism actually work on portals we do not control. Answer is yes, and it changed two product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this. Everything else supports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dwell. One line each, then move to the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is not that something failed. Two things were learned: typed HTML is always stripped, and the portal will still embed us if we let its own pipeline do it. Inline display or measurement — on DubaiSel you pick one. The direct link stays the method to build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 said this was worth knowing in week one rather than month three. It was exactly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live demo moment. Expire, refresh the portal page, renewal panel appears. Then renew and it comes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noting the widget was pulled forward from Phase 2 at no extra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ask. Do not bury it — we need a broker relationship to close the last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 in step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over to the live demo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737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1737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057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8FB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· FINDINGS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6888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DeepVue Embed Infrastructure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862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hosted tour live on a listing portal we don’t control — and can we switch it off?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852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Bevers  ·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6809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works — and we know which method to build 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556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embed mechanism was demonstrated end to end on real third-party listings: uploaded, embedded, measured, and switched off remotely.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50592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6334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7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5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6499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met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2450592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26334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36499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platforms tested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2450592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0" y="26334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336499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that changed the product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24528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EAF2FC"/>
          </a:solidFill>
          <a:ln w="12700">
            <a:solidFill>
              <a:srgbClr val="BCD7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445312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decision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481888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 link is the primary embed method — not the fallback. It worked on every platform tested, and it keeps hosting, expiry and billing under DeepVue’s control.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BRIEF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6809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five success criteria met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00784"/>
            <a:ext cx="1088136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01952"/>
            <a:ext cx="384048" cy="384048"/>
          </a:xfrm>
          <a:prstGeom prst="ellipse">
            <a:avLst/>
          </a:prstGeom>
          <a:solidFill>
            <a:srgbClr val="067647"/>
          </a:solidFill>
          <a:ln w="12700">
            <a:solidFill>
              <a:srgbClr val="0676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1965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uploaded and embed generated in minutes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12140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embed codes, live tour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058400" y="195681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7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1088136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807208"/>
            <a:ext cx="384048" cy="384048"/>
          </a:xfrm>
          <a:prstGeom prst="ellipse">
            <a:avLst/>
          </a:prstGeom>
          <a:solidFill>
            <a:srgbClr val="067647"/>
          </a:solidFill>
          <a:ln w="12700">
            <a:solidFill>
              <a:srgbClr val="06764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72491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correctly on desktop and mobile in a real listing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02666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DubaiSel and vivaUAE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0" y="28620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7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11296"/>
            <a:ext cx="1088136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712464"/>
            <a:ext cx="384048" cy="384048"/>
          </a:xfrm>
          <a:prstGeom prst="ellipse">
            <a:avLst/>
          </a:prstGeom>
          <a:solidFill>
            <a:srgbClr val="067647"/>
          </a:solidFill>
          <a:ln w="12700">
            <a:solidFill>
              <a:srgbClr val="06764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363016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produces a clean renewal state on a live host page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39319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on DubaiSel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0" y="37673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7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416552"/>
            <a:ext cx="1088136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617720"/>
            <a:ext cx="384048" cy="384048"/>
          </a:xfrm>
          <a:prstGeom prst="ellipse">
            <a:avLst/>
          </a:prstGeom>
          <a:solidFill>
            <a:srgbClr val="067647"/>
          </a:solidFill>
          <a:ln w="12700">
            <a:solidFill>
              <a:srgbClr val="06764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453542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arrive from a third-party page, source identified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48371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— see finding 2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0" y="467258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7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321808"/>
            <a:ext cx="1088136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5522976"/>
            <a:ext cx="384048" cy="384048"/>
          </a:xfrm>
          <a:prstGeom prst="ellipse">
            <a:avLst/>
          </a:prstGeom>
          <a:solidFill>
            <a:srgbClr val="067647"/>
          </a:solidFill>
          <a:ln w="12700">
            <a:solidFill>
              <a:srgbClr val="06764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4400" y="5522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508760" y="544068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compatibility table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508760" y="574243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COMPAT.md, three platforms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0" y="5577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7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6809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Pasted iframe HTML never survives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0078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we typed was accepted — five attempts, zero successes: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84832"/>
            <a:ext cx="5760720" cy="548640"/>
          </a:xfrm>
          <a:prstGeom prst="roundRect">
            <a:avLst>
              <a:gd name="adj" fmla="val 13333"/>
            </a:avLst>
          </a:prstGeom>
          <a:solidFill>
            <a:srgbClr val="FEF3F2"/>
          </a:solidFill>
          <a:ln w="12700">
            <a:solidFill>
              <a:srgbClr val="FBD5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185416"/>
            <a:ext cx="329184" cy="32918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185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213969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post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886200" y="213969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as plain text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724912"/>
            <a:ext cx="5760720" cy="548640"/>
          </a:xfrm>
          <a:prstGeom prst="roundRect">
            <a:avLst>
              <a:gd name="adj" fmla="val 13333"/>
            </a:avLst>
          </a:prstGeom>
          <a:solidFill>
            <a:srgbClr val="FEF3F2"/>
          </a:solidFill>
          <a:ln w="12700">
            <a:solidFill>
              <a:srgbClr val="FBD5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825496"/>
            <a:ext cx="329184" cy="32918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" y="2825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277977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DubaiSel — visual editor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277977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Escaped to visible text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364992"/>
            <a:ext cx="5760720" cy="548640"/>
          </a:xfrm>
          <a:prstGeom prst="roundRect">
            <a:avLst>
              <a:gd name="adj" fmla="val 13333"/>
            </a:avLst>
          </a:prstGeom>
          <a:solidFill>
            <a:srgbClr val="FEF3F2"/>
          </a:solidFill>
          <a:ln w="12700">
            <a:solidFill>
              <a:srgbClr val="FBD5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465576"/>
            <a:ext cx="329184" cy="32918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3465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34198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DubaiSel — raw HTML tab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886200" y="341985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rejected outright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005072"/>
            <a:ext cx="5760720" cy="548640"/>
          </a:xfrm>
          <a:prstGeom prst="roundRect">
            <a:avLst>
              <a:gd name="adj" fmla="val 13333"/>
            </a:avLst>
          </a:prstGeom>
          <a:solidFill>
            <a:srgbClr val="FEF3F2"/>
          </a:solidFill>
          <a:ln w="12700">
            <a:solidFill>
              <a:srgbClr val="FBD5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4105656"/>
            <a:ext cx="329184" cy="32918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1248" y="4105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98448" y="405993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DubaiSel — bare URL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886200" y="405993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turned into a link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645152"/>
            <a:ext cx="5760720" cy="548640"/>
          </a:xfrm>
          <a:prstGeom prst="roundRect">
            <a:avLst>
              <a:gd name="adj" fmla="val 13333"/>
            </a:avLst>
          </a:prstGeom>
          <a:solidFill>
            <a:srgbClr val="FEF3F2"/>
          </a:solidFill>
          <a:ln w="12700">
            <a:solidFill>
              <a:srgbClr val="FBD5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" y="4745736"/>
            <a:ext cx="329184" cy="32918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1248" y="4745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298448" y="470001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vivaUAE — description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886200" y="470001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stripped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858000" y="2084832"/>
            <a:ext cx="4663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78040" y="23042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DeepVue weakness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2688336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standard security hardening on anything a user can type into. It blocks Matterport and every other provider in exactly the same way.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858000" y="4279392"/>
            <a:ext cx="4663440" cy="1737360"/>
          </a:xfrm>
          <a:prstGeom prst="roundRect">
            <a:avLst>
              <a:gd name="adj" fmla="val 4211"/>
            </a:avLst>
          </a:prstGeom>
          <a:solidFill>
            <a:srgbClr val="ECFDF3"/>
          </a:solidFill>
          <a:ln w="12700">
            <a:solidFill>
              <a:srgbClr val="BBE8C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78040" y="4526280"/>
            <a:ext cx="384048" cy="384048"/>
          </a:xfrm>
          <a:prstGeom prst="ellipse">
            <a:avLst/>
          </a:prstGeom>
          <a:solidFill>
            <a:srgbClr val="067647"/>
          </a:solidFill>
          <a:ln w="12700">
            <a:solidFill>
              <a:srgbClr val="06764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7804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699248" y="45537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portal can embed it itself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50292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URL in DubaiSel’s description made its WordPress fetch our oEmbed endpoint and build its own iframe. The tour renders inline on the live listing — but sandboxed, so it reports no analytics.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6809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Referrer-based attribution does not work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190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platform broke it differently — and none of it is fixable from our side.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39696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368296"/>
            <a:ext cx="329184" cy="32918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368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2377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vivaUAE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85292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outbound links “no referrer” — nothing is sent at all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2139696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368296"/>
            <a:ext cx="329184" cy="32918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2368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10912" y="2377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85292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links through its own shortener, with an interstitial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55280" y="2139696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2368296"/>
            <a:ext cx="329184" cy="32918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0" y="2368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68512" y="2377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browser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285292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domain only — never the specific listing page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041648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EAF2FC"/>
          </a:solidFill>
          <a:ln w="12700">
            <a:solidFill>
              <a:srgbClr val="BCD7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427939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response — already shipped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4645152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embed link now carries its own source tag, recorded when the tour loads and trusted over the referrer. It survives referrer stripping, link shorteners and interstitials — all three failures above.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43153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 for the main build: a tag is self-declared, so it is sound for reporting but must not be trusted for billing — that belongs with the click-fraud work already scoped out.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6809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link, correct in both situations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55648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a listing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6888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tour and nothing else — the listing page already supplies the price, beds and description.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55648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Clicked directly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46888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property page: photos, address, price, key facts, write-up and amenities, DeepVue-branded.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950208"/>
            <a:ext cx="10881360" cy="2011680"/>
          </a:xfrm>
          <a:prstGeom prst="roundRect">
            <a:avLst>
              <a:gd name="adj" fmla="val 3636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418795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FB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when the subscription lapses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553712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URL switches itself to a renewal prompt.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504748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touches the listing. The embed code on the portal never changes — DeepVue re-checks the subscription every time the tour loads. The hosting revenue model, visible in five seconds.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6809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built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55648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embed → measure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96896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Tours, signed links, analytics with per-portal attribution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755648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2011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enforcement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596896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a live tour to a renewal prompt remotely, instantly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0" y="1755648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EAF2FC"/>
          </a:solidFill>
          <a:ln w="12700">
            <a:solidFill>
              <a:srgbClr val="BCD7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2011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embed methods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596896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iframe, direct link, and the JS widget deferred to Phase 2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858768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EAF2FC"/>
          </a:solidFill>
          <a:ln w="12700">
            <a:solidFill>
              <a:srgbClr val="BCD7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114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oEmbed support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700016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platforms with an embed pipeline auto-embed a pasted link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97680" y="3858768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EAF2FC"/>
          </a:solidFill>
          <a:ln w="12700">
            <a:solidFill>
              <a:srgbClr val="BCD7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0" y="4114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tagging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700016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to finding 2 — attribution that survives portals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55280" y="3858768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0" y="4114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automated checks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700016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command, runnable against any environment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14476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Shaded cards were not in the original scope — the JS widget was deferred to Phase 2, and source tagging answers a problem the testing uncovered.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097280"/>
            <a:ext cx="4023360" cy="4023360"/>
          </a:xfrm>
          <a:prstGeom prst="ellipse">
            <a:avLst/>
          </a:prstGeom>
          <a:solidFill>
            <a:srgbClr val="1737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8FB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6809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 we could not answer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10512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Property Finder and Bayut accept an arbitrary provider’s link in their tour-URL field?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7375E"/>
          </a:solidFill>
          <a:ln w="12700">
            <a:solidFill>
              <a:srgbClr val="2C4C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99923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FB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3375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dedicated tour field is the one route that gives inline display and full commercial control — the portal builds the embed around our link. It is the best possible outcome for the product.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3891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F4D33"/>
          </a:solidFill>
          <a:ln w="12700">
            <a:solidFill>
              <a:srgbClr val="2C6B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461772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F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an access problem, not a technical one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502920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6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portals require a RERA-licensed agent account to create any listing. Twenty minutes with a broker’s login would settle it.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6809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17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for the main build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11680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2024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embed generator around the direct link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49424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method that works everywhere. Treat inline display as the upgrade path, not the default.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825496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099816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099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00837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source tagging into the product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33756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Referrer attribution cannot be relied on. Per-portal reporting needs tags generated per listing.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13632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187952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187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09651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agent access to Property Finder and Bayut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42569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open question, and the one with the most commercial upside.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001768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5276088"/>
            <a:ext cx="420624" cy="42062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5276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5184648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click-fraud out of scope until billing is designed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551383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and analytics events are both forgeable by design at this stage.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206240" cy="4206240"/>
          </a:xfrm>
          <a:prstGeom prst="ellipse">
            <a:avLst/>
          </a:prstGeom>
          <a:solidFill>
            <a:srgbClr val="1737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-914400"/>
            <a:ext cx="3291840" cy="3291840"/>
          </a:xfrm>
          <a:prstGeom prst="ellipse">
            <a:avLst/>
          </a:prstGeom>
          <a:solidFill>
            <a:srgbClr val="1737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560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Throwaway code, permanent answers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1188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 is proven on real listings. The largest estimating unknown in Phase 2 — which embed methods portals actually accept — is now answered with evidence rather than assumption.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029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·  pocembeding-five.vercel.app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DeepVue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DeepVue Embed POC — Findings</dc:title>
  <dc:subject>PptxGenJS Presentation</dc:subject>
  <dc:creator>Logic Bevers</dc:creator>
  <cp:lastModifiedBy>Logic Bevers</cp:lastModifiedBy>
  <cp:revision>1</cp:revision>
  <dcterms:created xsi:type="dcterms:W3CDTF">2026-10-05T08:31:20Z</dcterms:created>
  <dcterms:modified xsi:type="dcterms:W3CDTF">2026-10-05T08:31:20Z</dcterms:modified>
</cp:coreProperties>
</file>